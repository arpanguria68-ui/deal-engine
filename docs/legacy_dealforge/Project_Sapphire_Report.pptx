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100.0</c:v>
                </c:pt>
                <c:pt idx="1">
                  <c:v>114.99999999999999</c:v>
                </c:pt>
                <c:pt idx="2">
                  <c:v>132.0</c:v>
                </c:pt>
                <c:pt idx="3">
                  <c:v>155.0</c:v>
                </c:pt>
                <c:pt idx="4">
                  <c:v>185.0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 ($M)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20.0</c:v>
                </c:pt>
                <c:pt idx="1">
                  <c:v>24.0</c:v>
                </c:pt>
                <c:pt idx="2">
                  <c:v>29.0</c:v>
                </c:pt>
                <c:pt idx="3">
                  <c:v>35.0</c:v>
                </c:pt>
                <c:pt idx="4">
                  <c:v>44.0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Project Sapphire - Real World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B4C6DC"/>
                </a:solidFill>
              </a:defRPr>
            </a:pPr>
            <a:r>
              <a:t>M&amp;A Due Diligence Report — Palantir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96AAC8"/>
                </a:solidFill>
              </a:defRPr>
            </a:pPr>
            <a:r>
              <a:t>Prepared by DealForge AI | March 09,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8C8C8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Executive Summary</a:t>
            </a:r>
          </a:p>
          <a:p>
            <a:pPr>
              <a:defRPr sz="1400">
                <a:solidFill>
                  <a:srgbClr val="B4C6DC"/>
                </a:solidFill>
              </a:defRPr>
            </a:pPr>
            <a:r>
              <a:t>Deal: Project Sapphire - Real World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  <a:r>
              <a:t>Target Company: Palantir Technologies</a:t>
            </a:r>
            <a:br/>
            <a:r>
              <a:t>Industry: Enterprise Software / Ai</a:t>
            </a:r>
            <a:br/>
            <a:r>
              <a:t>Deal Score: Pending</a:t>
            </a:r>
            <a:br/>
            <a:r>
              <a:t>Status: Created</a:t>
            </a:r>
            <a:br/>
            <a:r>
              <a:t>Agents Deployed: 0</a:t>
            </a:r>
            <a:br/>
            <a:r>
              <a:t>Created: 2026-03-09T16:37:59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828800"/>
          <a:ext cx="100584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6035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Key Insight: Projected revenue growth displays strong CAGR, with EBITDA margins expanding significantly over the forecast period driven by operational synergies.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Final Recommendation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Strategic Verdict: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C00000"/>
                </a:solidFill>
              </a:defRPr>
            </a:pPr>
            <a:r>
              <a:t>HOLD / FURTHER DILIGENCE — Significant risks require further investigation.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Recommended Next Steps: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1. Finalize Quality of Earnings (QoE) report via external auditors.</a:t>
            </a:r>
            <a:br/>
            <a:br/>
            <a:r>
              <a:t>2. Draft initial Letter of Intent (LOI) with proposed valuation framework.</a:t>
            </a:r>
            <a:br/>
            <a:br/>
            <a:r>
              <a:t>3. Initiate deep-dive technical due diligence on IP and data privacy architecture.</a:t>
            </a:r>
            <a:br/>
            <a:br/>
            <a:r>
              <a:t>4. Schedule management presentation with key stakeholders.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808080"/>
                </a:solidFill>
              </a:defRPr>
            </a:pPr>
            <a:r>
              <a:t>This report was generated by DealForge AI Multi-Agent system incorporating McKinsey-style visualizations.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