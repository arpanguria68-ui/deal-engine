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100.0</c:v>
                </c:pt>
                <c:pt idx="1">
                  <c:v>114.99999999999999</c:v>
                </c:pt>
                <c:pt idx="2">
                  <c:v>132.0</c:v>
                </c:pt>
                <c:pt idx="3">
                  <c:v>155.0</c:v>
                </c:pt>
                <c:pt idx="4">
                  <c:v>185.0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($M)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20.0</c:v>
                </c:pt>
                <c:pt idx="1">
                  <c:v>24.0</c:v>
                </c:pt>
                <c:pt idx="2">
                  <c:v>29.0</c:v>
                </c:pt>
                <c:pt idx="3">
                  <c:v>35.0</c:v>
                </c:pt>
                <c:pt idx="4">
                  <c:v>44.0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HubSpot Strategic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B4C6DC"/>
                </a:solidFill>
              </a:defRPr>
            </a:pPr>
            <a:r>
              <a:t>M&amp;A Due Diligence Report — Target Co.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6AAC8"/>
                </a:solidFill>
              </a:defRPr>
            </a:pPr>
            <a:r>
              <a:t>Prepared by DealForge AI | March 11,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8C8C8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Executive Summary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Deal: HubSpot Strategic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Target Company: N/A</a:t>
            </a:r>
            <a:br/>
            <a:r>
              <a:t>Industry: N/A</a:t>
            </a:r>
            <a:br/>
            <a:r>
              <a:t>Deal Score: Pending</a:t>
            </a:r>
            <a:br/>
            <a:r>
              <a:t>Status: Created</a:t>
            </a:r>
            <a:br/>
            <a:r>
              <a:t>Agents Deployed: 0</a:t>
            </a:r>
            <a:br/>
            <a:r>
              <a:t>Created: N/A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10058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6035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Key Insight: Projected revenue growth displays strong CAGR, with EBITDA margins expanding significantly over the forecast period driven by operational synergies.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Agent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0% | Provider: unknown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Key drivers: (1) Revenue growth of 44% over 3 years demonstrates market demand and product-market fit. (2) Gross margin expansion from 84.1% to 83.8% shows operational efficiency at scale. (3) Operating cash flow improvement reflected in $495M cash accumulation over period. (4) Shareholder equity grew 57% from FY2023-2025, strengthening balance sheet. Valuation based on DCF with conservative WACC of 12%, terminal growth of 3%, and revenue multiples of 8-12x for SaaS sector.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9904" y="1645920"/>
            <a:ext cx="18288" cy="4114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Final Recommendation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Strategic Verdict: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C00000"/>
                </a:solidFill>
              </a:defRPr>
            </a:pPr>
            <a:r>
              <a:t>HOLD / FURTHER DILIGENCE — Significant risks require further investigation.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Recommended Next Steps: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1. Finalize Quality of Earnings (QoE) report via external auditors.</a:t>
            </a:r>
            <a:br/>
            <a:br/>
            <a:r>
              <a:t>2. Draft initial Letter of Intent (LOI) with proposed valuation framework.</a:t>
            </a:r>
            <a:br/>
            <a:br/>
            <a:r>
              <a:t>3. Initiate deep-dive technical due diligence on IP and data privacy architecture.</a:t>
            </a:r>
            <a:br/>
            <a:br/>
            <a:r>
              <a:t>4. Schedule management presentation with key stakeholders.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08080"/>
                </a:solidFill>
              </a:defRPr>
            </a:pPr>
            <a:r>
              <a:t>This report was generated by DealForge AI Multi-Agent system incorporating McKinsey-style visualizations.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